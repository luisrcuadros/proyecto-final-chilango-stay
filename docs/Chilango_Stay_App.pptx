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4" r:id="rId3"/>
    <p:sldId id="268" r:id="rId4"/>
    <p:sldId id="259" r:id="rId5"/>
    <p:sldId id="265" r:id="rId6"/>
    <p:sldId id="261" r:id="rId7"/>
    <p:sldId id="272" r:id="rId8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hwezt7xQHbPtHbIW1LpOei9wz1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2626"/>
            </a:gs>
            <a:gs pos="100000">
              <a:srgbClr val="E91E63"/>
            </a:gs>
          </a:gsLst>
          <a:lin ang="2700000" scaled="0"/>
        </a:gra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 descr="/tmp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8098" y="5693057"/>
            <a:ext cx="3595803" cy="9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rebuchet MS"/>
              <a:buNone/>
            </a:pPr>
            <a:r>
              <a:rPr lang="en-US" sz="5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CHILANGO STAY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200" y="30632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D9E4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FCD9E4"/>
                </a:solidFill>
                <a:latin typeface="Calibri"/>
                <a:ea typeface="Calibri"/>
                <a:cs typeface="Calibri"/>
                <a:sym typeface="Calibri"/>
              </a:rPr>
              <a:t>Estimador de precio por noche para anfitriones en CDMX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4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Diana Arroyo y Luis Cuadros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400"/>
              <a:buFont typeface="Calibri"/>
              <a:buNone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4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 de mayo de 2026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457200" y="411480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El problema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2" descr="/tmp/pi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01400" y="384048"/>
            <a:ext cx="38404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158375" y="618490"/>
            <a:ext cx="64008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Calibri"/>
              <a:buNone/>
            </a:pP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457200" y="1000709"/>
            <a:ext cx="5461000" cy="22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 algn="l">
              <a:lnSpc>
                <a:spcPct val="140000"/>
              </a:lnSpc>
              <a:spcAft>
                <a:spcPts val="600"/>
              </a:spcAft>
              <a:buClr>
                <a:srgbClr val="E91E63"/>
              </a:buClr>
              <a:buSzPts val="1600"/>
              <a:buFont typeface="Calibri"/>
              <a:buChar char="●"/>
            </a:pPr>
            <a:r>
              <a:rPr lang="es-MX" sz="16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El anfitrión no cuenta con una referencia objetiva para definir cuánto cobrar por noche.</a:t>
            </a:r>
          </a:p>
          <a:p>
            <a:pPr marL="285750" indent="-285750" algn="l">
              <a:lnSpc>
                <a:spcPct val="140000"/>
              </a:lnSpc>
              <a:spcAft>
                <a:spcPts val="600"/>
              </a:spcAft>
              <a:buClr>
                <a:srgbClr val="E91E63"/>
              </a:buClr>
              <a:buSzPts val="1600"/>
              <a:buFont typeface="Calibri"/>
              <a:buChar char="●"/>
            </a:pPr>
            <a:r>
              <a:rPr lang="es-MX" sz="16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Un precio demasiado alto puede reducir la ocupación; uno demasiado bajo limita el ingreso potencial.</a:t>
            </a:r>
          </a:p>
        </p:txBody>
      </p:sp>
      <p:pic>
        <p:nvPicPr>
          <p:cNvPr id="26" name="Google Shape;26;p2" descr="/tmp/pi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6291072"/>
            <a:ext cx="201168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>
            <a:off x="731520" y="62544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Chilango Stay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1338560" y="6254496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C8C085-CC6D-7E19-16D8-03CA98EB15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575"/>
          <a:stretch>
            <a:fillRect/>
          </a:stretch>
        </p:blipFill>
        <p:spPr>
          <a:xfrm>
            <a:off x="3048000" y="3522472"/>
            <a:ext cx="6096000" cy="2768600"/>
          </a:xfrm>
          <a:prstGeom prst="rect">
            <a:avLst/>
          </a:prstGeom>
        </p:spPr>
      </p:pic>
      <p:sp>
        <p:nvSpPr>
          <p:cNvPr id="2" name="RightColumnBullets">
            <a:extLst>
              <a:ext uri="{FF2B5EF4-FFF2-40B4-BE49-F238E27FC236}">
                <a16:creationId xmlns:a16="http://schemas.microsoft.com/office/drawing/2014/main" id="{11710DA1-4297-4602-A570-BB488C2ECBAE}"/>
              </a:ext>
            </a:extLst>
          </p:cNvPr>
          <p:cNvSpPr txBox="1"/>
          <p:nvPr/>
        </p:nvSpPr>
        <p:spPr>
          <a:xfrm>
            <a:off x="6273802" y="1298509"/>
            <a:ext cx="5461000" cy="1526315"/>
          </a:xfrm>
          <a:prstGeom prst="rect">
            <a:avLst/>
          </a:prstGeom>
          <a:noFill/>
        </p:spPr>
        <p:txBody>
          <a:bodyPr vertOverflow="overflow" vert="horz" wrap="square" lIns="101600" tIns="50800" rIns="101600" bIns="50800" rtlCol="0" anchor="t" anchorCtr="0">
            <a:spAutoFit/>
          </a:bodyPr>
          <a:lstStyle/>
          <a:p>
            <a:pPr marL="285750" indent="-285750" algn="l">
              <a:lnSpc>
                <a:spcPct val="140000"/>
              </a:lnSpc>
              <a:spcAft>
                <a:spcPts val="600"/>
              </a:spcAft>
              <a:buClr>
                <a:srgbClr val="E91E63"/>
              </a:buClr>
              <a:buSzPts val="1600"/>
              <a:buFont typeface="Calibri"/>
              <a:buChar char="●"/>
            </a:pPr>
            <a:r>
              <a:rPr lang="es-MX" sz="16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En CDMX, los precios varían significativamente por alcaldía, tipo de alojamiento, capacidad y amenidades.</a:t>
            </a:r>
          </a:p>
          <a:p>
            <a:pPr marL="285750" indent="-285750" algn="l">
              <a:lnSpc>
                <a:spcPct val="140000"/>
              </a:lnSpc>
              <a:spcAft>
                <a:spcPts val="600"/>
              </a:spcAft>
              <a:buClr>
                <a:srgbClr val="E91E63"/>
              </a:buClr>
              <a:buSzPts val="1600"/>
              <a:buFont typeface="Calibri"/>
              <a:buChar char="●"/>
            </a:pPr>
            <a:r>
              <a:rPr lang="es-MX" sz="16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Sin una guía basada en datos, la decisión suele depender de intuición, comparaciones manuales o criterios arbitrarios.</a:t>
            </a:r>
          </a:p>
        </p:txBody>
      </p:sp>
    </p:spTree>
    <p:extLst>
      <p:ext uri="{BB962C8B-B14F-4D97-AF65-F5344CB8AC3E}">
        <p14:creationId xmlns:p14="http://schemas.microsoft.com/office/powerpoint/2010/main" val="1277103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457200" y="411480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Usuario final y beneficio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3" descr="/tmp/pi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01400" y="384048"/>
            <a:ext cx="38404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/>
          <p:nvPr/>
        </p:nvSpPr>
        <p:spPr>
          <a:xfrm>
            <a:off x="457200" y="15544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E0313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731520" y="25146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¿Quién es?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54825" y="2875475"/>
            <a:ext cx="3325200" cy="20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>
              <a:lnSpc>
                <a:spcPct val="135000"/>
              </a:lnSpc>
              <a:spcAft>
                <a:spcPts val="300"/>
              </a:spcAft>
              <a:buNone/>
            </a:pPr>
            <a:r>
              <a:rPr lang="es-MX" sz="1400" b="1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Anfitriones e inversionistas de alojamientos </a:t>
            </a:r>
            <a:r>
              <a:rPr lang="es-MX" sz="14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 corta estancia en CDMX.</a:t>
            </a:r>
          </a:p>
          <a:p>
            <a:pPr marL="0" indent="0" algn="l">
              <a:lnSpc>
                <a:spcPct val="135000"/>
              </a:lnSpc>
              <a:spcAft>
                <a:spcPts val="300"/>
              </a:spcAft>
              <a:buNone/>
            </a:pPr>
            <a:r>
              <a:rPr lang="es-MX" sz="14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Pueden tener desde un cuarto o departamento hasta varios inmuebles, sin requerir conocimientos técnicos.</a:t>
            </a:r>
          </a:p>
        </p:txBody>
      </p:sp>
      <p:sp>
        <p:nvSpPr>
          <p:cNvPr id="42" name="Google Shape;42;p3"/>
          <p:cNvSpPr/>
          <p:nvPr/>
        </p:nvSpPr>
        <p:spPr>
          <a:xfrm>
            <a:off x="4251960" y="15544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526280" y="1828800"/>
            <a:ext cx="548640" cy="548640"/>
          </a:xfrm>
          <a:prstGeom prst="ellipse">
            <a:avLst/>
          </a:prstGeom>
          <a:solidFill>
            <a:srgbClr val="E84B8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52628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526280" y="25146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¿Qué necesita?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526280" y="301752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>
              <a:lnSpc>
                <a:spcPct val="135000"/>
              </a:lnSpc>
              <a:spcAft>
                <a:spcPts val="300"/>
              </a:spcAft>
              <a:buNone/>
            </a:pPr>
            <a:r>
              <a:rPr lang="es-MX" sz="14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Definir un </a:t>
            </a:r>
            <a:r>
              <a:rPr lang="es-MX" sz="1400" b="1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precio de publicación competitivo </a:t>
            </a:r>
            <a:r>
              <a:rPr lang="es-MX" sz="14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y alineado con el mercado, sin sacrificar ocupación ni limitar el ingreso potencial.</a:t>
            </a:r>
          </a:p>
        </p:txBody>
      </p:sp>
      <p:sp>
        <p:nvSpPr>
          <p:cNvPr id="47" name="Google Shape;47;p3"/>
          <p:cNvSpPr/>
          <p:nvPr/>
        </p:nvSpPr>
        <p:spPr>
          <a:xfrm>
            <a:off x="8046720" y="15544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321040" y="1828800"/>
            <a:ext cx="548640" cy="548640"/>
          </a:xfrm>
          <a:prstGeom prst="ellipse">
            <a:avLst/>
          </a:prstGeom>
          <a:solidFill>
            <a:srgbClr val="E0313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32104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321040" y="25146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¿Qué le damos?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8229600" y="2875475"/>
            <a:ext cx="2971800" cy="20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>
              <a:lnSpc>
                <a:spcPct val="135000"/>
              </a:lnSpc>
              <a:spcAft>
                <a:spcPts val="300"/>
              </a:spcAft>
              <a:buNone/>
            </a:pPr>
            <a:r>
              <a:rPr lang="es-MX" sz="14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Una </a:t>
            </a:r>
            <a:r>
              <a:rPr lang="es-MX" sz="1400" b="1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estimación de precio </a:t>
            </a:r>
            <a:r>
              <a:rPr lang="es-MX" sz="14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basada en datos reales de mercado, obtenida en segundos. Además, </a:t>
            </a:r>
            <a:r>
              <a:rPr lang="es-MX" sz="1400" b="1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contexto por alcaldía</a:t>
            </a:r>
            <a:r>
              <a:rPr lang="es-MX" sz="14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, rango sugerido de publicación, </a:t>
            </a:r>
            <a:r>
              <a:rPr lang="es-MX" sz="1400" b="1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análisis de sensibilidad </a:t>
            </a:r>
            <a:r>
              <a:rPr lang="es-MX" sz="14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s-MX" sz="1400" b="1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canal de contacto</a:t>
            </a:r>
            <a:r>
              <a:rPr lang="es-MX" sz="14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 para seguimiento.</a:t>
            </a:r>
          </a:p>
        </p:txBody>
      </p:sp>
      <p:pic>
        <p:nvPicPr>
          <p:cNvPr id="52" name="Google Shape;52;p3" descr="/tmp/pi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6291072"/>
            <a:ext cx="201168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731520" y="62544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Chilango Stay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1338560" y="6254496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8457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/>
          <p:nvPr/>
        </p:nvSpPr>
        <p:spPr>
          <a:xfrm>
            <a:off x="457200" y="411480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Arquitectura de la solución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4" descr="/tmp/pi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01400" y="384048"/>
            <a:ext cx="384048" cy="40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4" descr="/tmp/pi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6291072"/>
            <a:ext cx="201168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731520" y="62544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Chilango Stay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1338560" y="6254496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4606EE-E366-ECEE-4CCC-79449A5C6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492" y="1387760"/>
            <a:ext cx="9773015" cy="43184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457200" y="411480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Los datos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5" descr="/tmp/pi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01400" y="384048"/>
            <a:ext cx="38404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457200" y="1868119"/>
            <a:ext cx="109728" cy="603504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31520" y="1868119"/>
            <a:ext cx="25603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Fuente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383280" y="1868119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Inside Airbnb — listados públicos de CDMX</a:t>
            </a:r>
          </a:p>
        </p:txBody>
      </p:sp>
      <p:sp>
        <p:nvSpPr>
          <p:cNvPr id="78" name="Google Shape;78;p5"/>
          <p:cNvSpPr/>
          <p:nvPr/>
        </p:nvSpPr>
        <p:spPr>
          <a:xfrm>
            <a:off x="457200" y="2654503"/>
            <a:ext cx="109728" cy="603504"/>
          </a:xfrm>
          <a:prstGeom prst="rect">
            <a:avLst/>
          </a:prstGeom>
          <a:solidFill>
            <a:srgbClr val="E84B8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31520" y="2654503"/>
            <a:ext cx="25603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Volumen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383280" y="2654503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22,274 registros con precio, ubicación, tipo y características físicas</a:t>
            </a:r>
          </a:p>
        </p:txBody>
      </p:sp>
      <p:sp>
        <p:nvSpPr>
          <p:cNvPr id="81" name="Google Shape;81;p5"/>
          <p:cNvSpPr/>
          <p:nvPr/>
        </p:nvSpPr>
        <p:spPr>
          <a:xfrm>
            <a:off x="457200" y="3440887"/>
            <a:ext cx="109728" cy="603504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31520" y="3440887"/>
            <a:ext cx="25603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Preprocesamiento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383280" y="3440887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Target encoding bayesiano, oversampling de alcaldías minoritarias, geo-clusters 5×5</a:t>
            </a:r>
          </a:p>
        </p:txBody>
      </p:sp>
      <p:sp>
        <p:nvSpPr>
          <p:cNvPr id="84" name="Google Shape;84;p5"/>
          <p:cNvSpPr/>
          <p:nvPr/>
        </p:nvSpPr>
        <p:spPr>
          <a:xfrm>
            <a:off x="457200" y="4227271"/>
            <a:ext cx="109728" cy="603504"/>
          </a:xfrm>
          <a:prstGeom prst="rect">
            <a:avLst/>
          </a:prstGeom>
          <a:solidFill>
            <a:srgbClr val="E84B8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31520" y="4227271"/>
            <a:ext cx="25603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Modelo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383280" y="4227271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dirty="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XGBoost en SageMaker — target log(precio+1), tuning con RandomizedSearchCV (5-fold CV)</a:t>
            </a:r>
          </a:p>
        </p:txBody>
      </p:sp>
      <p:pic>
        <p:nvPicPr>
          <p:cNvPr id="87" name="Google Shape;87;p5" descr="/tmp/pi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6291072"/>
            <a:ext cx="201168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731520" y="62544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Chilango Stay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1338560" y="6254496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2605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2626"/>
            </a:gs>
            <a:gs pos="100000">
              <a:srgbClr val="E91E63"/>
            </a:gs>
          </a:gsLst>
          <a:lin ang="2700000" scaled="0"/>
        </a:gra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457200" y="32918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lang="en-US" sz="46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DEMO EN VIVO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D9E4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CD9E4"/>
                </a:solidFill>
                <a:latin typeface="Calibri"/>
                <a:ea typeface="Calibri"/>
                <a:cs typeface="Calibri"/>
                <a:sym typeface="Calibri"/>
              </a:rPr>
              <a:t>La aplicación en Streamlit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486400" y="18288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00000" h="100000" extrusionOk="0">
                <a:moveTo>
                  <a:pt x="50000" y="8000"/>
                </a:moveTo>
                <a:lnTo>
                  <a:pt x="92000" y="42000"/>
                </a:lnTo>
                <a:lnTo>
                  <a:pt x="84000" y="42000"/>
                </a:lnTo>
                <a:lnTo>
                  <a:pt x="84000" y="92000"/>
                </a:lnTo>
                <a:lnTo>
                  <a:pt x="16000" y="92000"/>
                </a:lnTo>
                <a:lnTo>
                  <a:pt x="16000" y="42000"/>
                </a:lnTo>
                <a:lnTo>
                  <a:pt x="8000" y="42000"/>
                </a:lnTo>
                <a:close/>
              </a:path>
              <a:path w="100000" h="100000" fill="none" extrusionOk="0">
                <a:moveTo>
                  <a:pt x="42000" y="92000"/>
                </a:moveTo>
                <a:lnTo>
                  <a:pt x="42000" y="68000"/>
                </a:lnTo>
                <a:lnTo>
                  <a:pt x="58000" y="68000"/>
                </a:lnTo>
                <a:lnTo>
                  <a:pt x="58000" y="92000"/>
                </a:lnTo>
              </a:path>
              <a:path w="100000" h="100000" fill="none" extrusionOk="0">
                <a:moveTo>
                  <a:pt x="22000" y="55000"/>
                </a:moveTo>
                <a:lnTo>
                  <a:pt x="35000" y="55000"/>
                </a:lnTo>
                <a:lnTo>
                  <a:pt x="35000" y="68000"/>
                </a:lnTo>
                <a:lnTo>
                  <a:pt x="22000" y="68000"/>
                </a:lnTo>
                <a:close/>
              </a:path>
              <a:path w="100000" h="100000" fill="none" extrusionOk="0">
                <a:moveTo>
                  <a:pt x="28500" y="55000"/>
                </a:moveTo>
                <a:lnTo>
                  <a:pt x="28500" y="68000"/>
                </a:lnTo>
              </a:path>
              <a:path w="100000" h="100000" fill="none" extrusionOk="0">
                <a:moveTo>
                  <a:pt x="22000" y="61500"/>
                </a:moveTo>
                <a:lnTo>
                  <a:pt x="35000" y="61500"/>
                </a:lnTo>
              </a:path>
              <a:path w="100000" h="100000" fill="none" extrusionOk="0">
                <a:moveTo>
                  <a:pt x="65000" y="55000"/>
                </a:moveTo>
                <a:lnTo>
                  <a:pt x="78000" y="55000"/>
                </a:lnTo>
                <a:lnTo>
                  <a:pt x="78000" y="68000"/>
                </a:lnTo>
                <a:lnTo>
                  <a:pt x="65000" y="68000"/>
                </a:lnTo>
                <a:close/>
              </a:path>
              <a:path w="100000" h="100000" fill="none" extrusionOk="0">
                <a:moveTo>
                  <a:pt x="71500" y="55000"/>
                </a:moveTo>
                <a:lnTo>
                  <a:pt x="71500" y="68000"/>
                </a:lnTo>
              </a:path>
              <a:path w="100000" h="100000" fill="none" extrusionOk="0">
                <a:moveTo>
                  <a:pt x="65000" y="61500"/>
                </a:moveTo>
                <a:lnTo>
                  <a:pt x="78000" y="61500"/>
                </a:lnTo>
              </a:path>
            </a:pathLst>
          </a:custGeom>
          <a:noFill/>
          <a:ln w="317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457200" y="411480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2B2B2B"/>
                </a:solidFill>
                <a:latin typeface="Trebuchet MS"/>
                <a:ea typeface="Trebuchet MS"/>
                <a:cs typeface="Trebuchet MS"/>
                <a:sym typeface="Trebuchet MS"/>
              </a:rPr>
              <a:t>Cierre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7" descr="/tmp/pi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01400" y="384048"/>
            <a:ext cx="384048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457200" y="1397000"/>
            <a:ext cx="5334000" cy="431800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762000" y="1676400"/>
            <a:ext cx="472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s-MX" sz="18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Costos AWS estimados</a:t>
            </a:r>
          </a:p>
        </p:txBody>
      </p:sp>
      <p:sp>
        <p:nvSpPr>
          <p:cNvPr id="107" name="Google Shape;107;p7"/>
          <p:cNvSpPr/>
          <p:nvPr/>
        </p:nvSpPr>
        <p:spPr>
          <a:xfrm>
            <a:off x="762000" y="2032000"/>
            <a:ext cx="47244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300"/>
              </a:spcAft>
              <a:buNone/>
            </a:pPr>
            <a:r>
              <a:rPr lang="es-MX" sz="2400" b="1" dirty="0">
                <a:solidFill>
                  <a:srgbClr val="2B2B2B"/>
                </a:solidFill>
                <a:latin typeface="Calibri"/>
              </a:rPr>
              <a:t>~$1,297 USD/año</a:t>
            </a:r>
          </a:p>
          <a:p>
            <a:pPr marL="0" indent="0" algn="l">
              <a:lnSpc>
                <a:spcPct val="120000"/>
              </a:lnSpc>
              <a:spcAft>
                <a:spcPts val="500"/>
              </a:spcAft>
              <a:buNone/>
            </a:pPr>
            <a:r>
              <a:rPr lang="es-MX" sz="1200" i="1" dirty="0">
                <a:solidFill>
                  <a:srgbClr val="7A7A7A"/>
                </a:solidFill>
                <a:latin typeface="Calibri"/>
              </a:rPr>
              <a:t>(~$22,000 MXN, escenario base)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s-MX" sz="1300" b="1" dirty="0">
                <a:solidFill>
                  <a:srgbClr val="2B2B2B"/>
                </a:solidFill>
                <a:latin typeface="Calibri"/>
              </a:rPr>
              <a:t>SageMaker Endpoint 24/7: </a:t>
            </a:r>
            <a:r>
              <a:rPr lang="es-MX" sz="1300" dirty="0">
                <a:solidFill>
                  <a:srgbClr val="2B2B2B"/>
                </a:solidFill>
                <a:latin typeface="Calibri"/>
              </a:rPr>
              <a:t>$1,007 (78% del total)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s-MX" sz="1300" b="1" dirty="0">
                <a:solidFill>
                  <a:srgbClr val="2B2B2B"/>
                </a:solidFill>
                <a:latin typeface="Calibri"/>
              </a:rPr>
              <a:t>ECS Fargate (Streamlit): </a:t>
            </a:r>
            <a:r>
              <a:rPr lang="es-MX" sz="1300" dirty="0">
                <a:solidFill>
                  <a:srgbClr val="2B2B2B"/>
                </a:solidFill>
                <a:latin typeface="Calibri"/>
              </a:rPr>
              <a:t>$201</a:t>
            </a:r>
          </a:p>
          <a:p>
            <a:pPr marL="228600" indent="-228600" algn="l">
              <a:lnSpc>
                <a:spcPct val="130000"/>
              </a:lnSpc>
              <a:spcAft>
                <a:spcPts val="400"/>
              </a:spcAft>
              <a:buClr>
                <a:srgbClr val="2B2B2B"/>
              </a:buClr>
              <a:buSzPts val="1300"/>
              <a:buFont typeface="Calibri"/>
              <a:buChar char="●"/>
            </a:pPr>
            <a:r>
              <a:rPr lang="es-MX" sz="1300" b="1" dirty="0">
                <a:solidFill>
                  <a:srgbClr val="2B2B2B"/>
                </a:solidFill>
                <a:latin typeface="Calibri"/>
              </a:rPr>
              <a:t>Re-entrenamiento + Bedrock + S3 + CloudWatch: </a:t>
            </a:r>
            <a:r>
              <a:rPr lang="es-MX" sz="1300" dirty="0">
                <a:solidFill>
                  <a:srgbClr val="2B2B2B"/>
                </a:solidFill>
                <a:latin typeface="Calibri"/>
              </a:rPr>
              <a:t>$89</a:t>
            </a: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buNone/>
            </a:pPr>
            <a:r>
              <a:rPr lang="es-MX" sz="1200" i="1" dirty="0">
                <a:solidFill>
                  <a:srgbClr val="7A7A7A"/>
                </a:solidFill>
                <a:latin typeface="Calibri"/>
              </a:rPr>
              <a:t>Apagar endpoint 12h/día reduce a ~$800 USD anuales</a:t>
            </a:r>
          </a:p>
        </p:txBody>
      </p:sp>
      <p:sp>
        <p:nvSpPr>
          <p:cNvPr id="114" name="Google Shape;114;p7"/>
          <p:cNvSpPr/>
          <p:nvPr/>
        </p:nvSpPr>
        <p:spPr>
          <a:xfrm>
            <a:off x="6400800" y="2159000"/>
            <a:ext cx="5334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s-MX" sz="6000" b="1" dirty="0">
                <a:solidFill>
                  <a:srgbClr val="2B2B2B"/>
                </a:solidFill>
                <a:latin typeface="Trebuchet MS"/>
                <a:ea typeface="Trebuchet MS"/>
                <a:cs typeface="Trebuchet MS"/>
              </a:rPr>
              <a:t>¡Gracias!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s-MX" sz="1600" dirty="0">
                <a:solidFill>
                  <a:srgbClr val="7A7A7A"/>
                </a:solidFill>
                <a:latin typeface="Calibri"/>
              </a:rPr>
              <a:t>Chilango Stay · Estimador de Precios CDMX</a:t>
            </a:r>
          </a:p>
        </p:txBody>
      </p:sp>
      <p:pic>
        <p:nvPicPr>
          <p:cNvPr id="115" name="Google Shape;115;p7" descr="/tmp/pi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6291072"/>
            <a:ext cx="201168" cy="214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731520" y="62544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Chilango Stay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338560" y="6254496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00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BE067C-7E2B-42FD-878A-050EBCECF34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03ae254-b8e0-40c6-a485-856a0dfc393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349</Words>
  <Application>Microsoft Office PowerPoint</Application>
  <PresentationFormat>Panorámica</PresentationFormat>
  <Paragraphs>60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Equipo Chilango Stay</dc:creator>
  <cp:lastModifiedBy>Diana Arroyo</cp:lastModifiedBy>
  <cp:revision>4</cp:revision>
  <dcterms:created xsi:type="dcterms:W3CDTF">2026-05-22T15:07:45Z</dcterms:created>
  <dcterms:modified xsi:type="dcterms:W3CDTF">2026-05-23T06:58:51Z</dcterms:modified>
</cp:coreProperties>
</file>